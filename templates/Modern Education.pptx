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6.png" ContentType="image/png"/>
  <Override PartName="/ppt/media/image2.jpeg" ContentType="image/jpeg"/>
  <Override PartName="/ppt/media/image3.jpeg" ContentType="image/jpeg"/>
  <Override PartName="/ppt/media/image5.png" ContentType="image/png"/>
  <Override PartName="/ppt/media/image1.jpeg" ContentType="image/jpeg"/>
  <Override PartName="/ppt/media/image4.jpeg" ContentType="image/jpe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807080" cy="20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654880" y="1312560"/>
            <a:ext cx="2851920" cy="2851920"/>
          </a:xfrm>
          <a:prstGeom prst="rect">
            <a:avLst/>
          </a:prstGeom>
          <a:noFill/>
          <a:ln w="7632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3680" y="1967760"/>
            <a:ext cx="4410720" cy="136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789480" y="539640"/>
            <a:ext cx="1046520" cy="1334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" name="Google Shape;17;p3"/>
          <p:cNvGrpSpPr/>
          <p:nvPr/>
        </p:nvGrpSpPr>
        <p:grpSpPr>
          <a:xfrm>
            <a:off x="3660480" y="399960"/>
            <a:ext cx="1309320" cy="257400"/>
            <a:chOff x="3660480" y="399960"/>
            <a:chExt cx="1309320" cy="257400"/>
          </a:xfrm>
        </p:grpSpPr>
        <p:sp>
          <p:nvSpPr>
            <p:cNvPr id="8" name="Google Shape;18;p3"/>
            <p:cNvSpPr/>
            <p:nvPr/>
          </p:nvSpPr>
          <p:spPr>
            <a:xfrm>
              <a:off x="40798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3"/>
            <p:cNvSpPr/>
            <p:nvPr/>
          </p:nvSpPr>
          <p:spPr>
            <a:xfrm>
              <a:off x="42840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20;p3"/>
            <p:cNvSpPr/>
            <p:nvPr/>
          </p:nvSpPr>
          <p:spPr>
            <a:xfrm>
              <a:off x="44881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1;p3"/>
            <p:cNvSpPr/>
            <p:nvPr/>
          </p:nvSpPr>
          <p:spPr>
            <a:xfrm>
              <a:off x="46922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2;p3"/>
            <p:cNvSpPr/>
            <p:nvPr/>
          </p:nvSpPr>
          <p:spPr>
            <a:xfrm>
              <a:off x="48963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3;p3"/>
            <p:cNvSpPr/>
            <p:nvPr/>
          </p:nvSpPr>
          <p:spPr>
            <a:xfrm>
              <a:off x="3660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4;p3"/>
            <p:cNvSpPr/>
            <p:nvPr/>
          </p:nvSpPr>
          <p:spPr>
            <a:xfrm>
              <a:off x="38642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5;p3"/>
            <p:cNvSpPr/>
            <p:nvPr/>
          </p:nvSpPr>
          <p:spPr>
            <a:xfrm>
              <a:off x="40683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6;p3"/>
            <p:cNvSpPr/>
            <p:nvPr/>
          </p:nvSpPr>
          <p:spPr>
            <a:xfrm>
              <a:off x="4272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7;p3"/>
            <p:cNvSpPr/>
            <p:nvPr/>
          </p:nvSpPr>
          <p:spPr>
            <a:xfrm>
              <a:off x="44766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1222920"/>
            <a:ext cx="4275720" cy="173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oogle Shape;367;p22"/>
          <p:cNvGrpSpPr/>
          <p:nvPr/>
        </p:nvGrpSpPr>
        <p:grpSpPr>
          <a:xfrm>
            <a:off x="5362560" y="4349160"/>
            <a:ext cx="1309320" cy="257400"/>
            <a:chOff x="5362560" y="4349160"/>
            <a:chExt cx="1309320" cy="257400"/>
          </a:xfrm>
        </p:grpSpPr>
        <p:sp>
          <p:nvSpPr>
            <p:cNvPr id="21" name="Google Shape;368;p22"/>
            <p:cNvSpPr/>
            <p:nvPr/>
          </p:nvSpPr>
          <p:spPr>
            <a:xfrm flipV="1">
              <a:off x="578196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69;p22"/>
            <p:cNvSpPr/>
            <p:nvPr/>
          </p:nvSpPr>
          <p:spPr>
            <a:xfrm flipV="1">
              <a:off x="598608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70;p22"/>
            <p:cNvSpPr/>
            <p:nvPr/>
          </p:nvSpPr>
          <p:spPr>
            <a:xfrm flipV="1">
              <a:off x="619020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71;p22"/>
            <p:cNvSpPr/>
            <p:nvPr/>
          </p:nvSpPr>
          <p:spPr>
            <a:xfrm flipV="1">
              <a:off x="639432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72;p22"/>
            <p:cNvSpPr/>
            <p:nvPr/>
          </p:nvSpPr>
          <p:spPr>
            <a:xfrm flipV="1">
              <a:off x="659844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73;p22"/>
            <p:cNvSpPr/>
            <p:nvPr/>
          </p:nvSpPr>
          <p:spPr>
            <a:xfrm flipV="1">
              <a:off x="536256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74;p22"/>
            <p:cNvSpPr/>
            <p:nvPr/>
          </p:nvSpPr>
          <p:spPr>
            <a:xfrm flipV="1">
              <a:off x="556668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75;p22"/>
            <p:cNvSpPr/>
            <p:nvPr/>
          </p:nvSpPr>
          <p:spPr>
            <a:xfrm flipV="1">
              <a:off x="577080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6;p22"/>
            <p:cNvSpPr/>
            <p:nvPr/>
          </p:nvSpPr>
          <p:spPr>
            <a:xfrm flipV="1">
              <a:off x="597492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7;p22"/>
            <p:cNvSpPr/>
            <p:nvPr/>
          </p:nvSpPr>
          <p:spPr>
            <a:xfrm flipV="1">
              <a:off x="617904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63212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" name="Google Shape;396;p24"/>
          <p:cNvGrpSpPr/>
          <p:nvPr/>
        </p:nvGrpSpPr>
        <p:grpSpPr>
          <a:xfrm>
            <a:off x="5143320" y="399960"/>
            <a:ext cx="1309680" cy="257400"/>
            <a:chOff x="5143320" y="399960"/>
            <a:chExt cx="1309680" cy="257400"/>
          </a:xfrm>
        </p:grpSpPr>
        <p:sp>
          <p:nvSpPr>
            <p:cNvPr id="34" name="Google Shape;397;p24"/>
            <p:cNvSpPr/>
            <p:nvPr/>
          </p:nvSpPr>
          <p:spPr>
            <a:xfrm>
              <a:off x="55630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398;p24"/>
            <p:cNvSpPr/>
            <p:nvPr/>
          </p:nvSpPr>
          <p:spPr>
            <a:xfrm>
              <a:off x="57672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399;p24"/>
            <p:cNvSpPr/>
            <p:nvPr/>
          </p:nvSpPr>
          <p:spPr>
            <a:xfrm>
              <a:off x="59713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00;p24"/>
            <p:cNvSpPr/>
            <p:nvPr/>
          </p:nvSpPr>
          <p:spPr>
            <a:xfrm>
              <a:off x="61754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01;p24"/>
            <p:cNvSpPr/>
            <p:nvPr/>
          </p:nvSpPr>
          <p:spPr>
            <a:xfrm>
              <a:off x="63795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02;p24"/>
            <p:cNvSpPr/>
            <p:nvPr/>
          </p:nvSpPr>
          <p:spPr>
            <a:xfrm>
              <a:off x="514332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03;p24"/>
            <p:cNvSpPr/>
            <p:nvPr/>
          </p:nvSpPr>
          <p:spPr>
            <a:xfrm>
              <a:off x="53474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04;p24"/>
            <p:cNvSpPr/>
            <p:nvPr/>
          </p:nvSpPr>
          <p:spPr>
            <a:xfrm>
              <a:off x="55515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05;p24"/>
            <p:cNvSpPr/>
            <p:nvPr/>
          </p:nvSpPr>
          <p:spPr>
            <a:xfrm>
              <a:off x="57556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06;p24"/>
            <p:cNvSpPr/>
            <p:nvPr/>
          </p:nvSpPr>
          <p:spPr>
            <a:xfrm>
              <a:off x="59598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Google Shape;407;p24"/>
          <p:cNvSpPr/>
          <p:nvPr/>
        </p:nvSpPr>
        <p:spPr>
          <a:xfrm>
            <a:off x="713160" y="3643920"/>
            <a:ext cx="360468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This presentation template was created by </a:t>
            </a:r>
            <a:r>
              <a:rPr b="1" lang="en" sz="1000" strike="noStrike" u="sng">
                <a:solidFill>
                  <a:schemeClr val="hlink"/>
                </a:solidFill>
                <a:effectLst/>
                <a:uFillTx/>
                <a:latin typeface="Manrope"/>
                <a:ea typeface="Manrope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and includes icons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Manrope"/>
                <a:ea typeface="Manrope"/>
                <a:hlinkClick r:id="rId3"/>
              </a:rPr>
              <a:t>Flaticon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and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Manrope"/>
                <a:ea typeface="Manrope"/>
                <a:hlinkClick r:id="rId4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6" name="Google Shape;65;p6"/>
          <p:cNvGrpSpPr/>
          <p:nvPr/>
        </p:nvGrpSpPr>
        <p:grpSpPr>
          <a:xfrm>
            <a:off x="7267320" y="387360"/>
            <a:ext cx="2455920" cy="5138280"/>
            <a:chOff x="7267320" y="387360"/>
            <a:chExt cx="2455920" cy="5138280"/>
          </a:xfrm>
        </p:grpSpPr>
        <p:grpSp>
          <p:nvGrpSpPr>
            <p:cNvPr id="47" name="Google Shape;66;p6"/>
            <p:cNvGrpSpPr/>
            <p:nvPr/>
          </p:nvGrpSpPr>
          <p:grpSpPr>
            <a:xfrm>
              <a:off x="7432920" y="387360"/>
              <a:ext cx="1309320" cy="257400"/>
              <a:chOff x="7432920" y="387360"/>
              <a:chExt cx="1309320" cy="257400"/>
            </a:xfrm>
          </p:grpSpPr>
          <p:sp>
            <p:nvSpPr>
              <p:cNvPr id="48" name="Google Shape;67;p6"/>
              <p:cNvSpPr/>
              <p:nvPr/>
            </p:nvSpPr>
            <p:spPr>
              <a:xfrm flipV="1">
                <a:off x="785232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68;p6"/>
              <p:cNvSpPr/>
              <p:nvPr/>
            </p:nvSpPr>
            <p:spPr>
              <a:xfrm flipV="1">
                <a:off x="805644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69;p6"/>
              <p:cNvSpPr/>
              <p:nvPr/>
            </p:nvSpPr>
            <p:spPr>
              <a:xfrm flipV="1">
                <a:off x="826056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70;p6"/>
              <p:cNvSpPr/>
              <p:nvPr/>
            </p:nvSpPr>
            <p:spPr>
              <a:xfrm flipV="1">
                <a:off x="846468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71;p6"/>
              <p:cNvSpPr/>
              <p:nvPr/>
            </p:nvSpPr>
            <p:spPr>
              <a:xfrm flipV="1">
                <a:off x="866880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72;p6"/>
              <p:cNvSpPr/>
              <p:nvPr/>
            </p:nvSpPr>
            <p:spPr>
              <a:xfrm flipV="1">
                <a:off x="743292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73;p6"/>
              <p:cNvSpPr/>
              <p:nvPr/>
            </p:nvSpPr>
            <p:spPr>
              <a:xfrm flipV="1">
                <a:off x="763704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74;p6"/>
              <p:cNvSpPr/>
              <p:nvPr/>
            </p:nvSpPr>
            <p:spPr>
              <a:xfrm flipV="1">
                <a:off x="784116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75;p6"/>
              <p:cNvSpPr/>
              <p:nvPr/>
            </p:nvSpPr>
            <p:spPr>
              <a:xfrm flipV="1">
                <a:off x="804528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76;p6"/>
              <p:cNvSpPr/>
              <p:nvPr/>
            </p:nvSpPr>
            <p:spPr>
              <a:xfrm flipV="1">
                <a:off x="824940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5920" bIns="259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8" name="Google Shape;77;p6"/>
            <p:cNvGrpSpPr/>
            <p:nvPr/>
          </p:nvGrpSpPr>
          <p:grpSpPr>
            <a:xfrm>
              <a:off x="7267320" y="3608280"/>
              <a:ext cx="2455920" cy="1917360"/>
              <a:chOff x="7267320" y="3608280"/>
              <a:chExt cx="2455920" cy="1917360"/>
            </a:xfrm>
          </p:grpSpPr>
          <p:sp>
            <p:nvSpPr>
              <p:cNvPr id="59" name="Google Shape;78;p6"/>
              <p:cNvSpPr/>
              <p:nvPr/>
            </p:nvSpPr>
            <p:spPr>
              <a:xfrm flipH="1" flipV="1" rot="5400000">
                <a:off x="7653240" y="3610800"/>
                <a:ext cx="1554120" cy="1548360"/>
              </a:xfrm>
              <a:prstGeom prst="rtTriangl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79;p6"/>
              <p:cNvSpPr/>
              <p:nvPr/>
            </p:nvSpPr>
            <p:spPr>
              <a:xfrm flipH="1" flipV="1" rot="18900600">
                <a:off x="8648640" y="4254840"/>
                <a:ext cx="1150200" cy="26208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80;p6"/>
              <p:cNvSpPr/>
              <p:nvPr/>
            </p:nvSpPr>
            <p:spPr>
              <a:xfrm flipV="1">
                <a:off x="7719480" y="3696120"/>
                <a:ext cx="1309320" cy="130932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81;p6"/>
              <p:cNvSpPr/>
              <p:nvPr/>
            </p:nvSpPr>
            <p:spPr>
              <a:xfrm flipH="1" flipV="1" rot="18900600">
                <a:off x="7177680" y="4964760"/>
                <a:ext cx="1098360" cy="2016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1280" bIns="71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4809600" cy="199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Modern </a:t>
            </a:r>
            <a:r>
              <a:rPr b="0" lang="en-US" sz="38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 Black"/>
              </a:rPr>
              <a:t>Education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714240" y="2733840"/>
            <a:ext cx="22381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92500"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Key approaches and practical classroom strategies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6" name="Google Shape;456;p30"/>
          <p:cNvGrpSpPr/>
          <p:nvPr/>
        </p:nvGrpSpPr>
        <p:grpSpPr>
          <a:xfrm>
            <a:off x="4714200" y="684000"/>
            <a:ext cx="4429440" cy="4466160"/>
            <a:chOff x="4714200" y="684000"/>
            <a:chExt cx="4429440" cy="4466160"/>
          </a:xfrm>
        </p:grpSpPr>
        <p:sp>
          <p:nvSpPr>
            <p:cNvPr id="67" name="Google Shape;457;p30"/>
            <p:cNvSpPr/>
            <p:nvPr/>
          </p:nvSpPr>
          <p:spPr>
            <a:xfrm flipH="1">
              <a:off x="4714200" y="78336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458;p30"/>
            <p:cNvSpPr/>
            <p:nvPr/>
          </p:nvSpPr>
          <p:spPr>
            <a:xfrm rot="18900000">
              <a:off x="7674840" y="13035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459;p30"/>
            <p:cNvSpPr/>
            <p:nvPr/>
          </p:nvSpPr>
          <p:spPr>
            <a:xfrm rot="18900600">
              <a:off x="4984200" y="32756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460;p30"/>
            <p:cNvSpPr/>
            <p:nvPr/>
          </p:nvSpPr>
          <p:spPr>
            <a:xfrm rot="18900600">
              <a:off x="7107840" y="20930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461;p30"/>
            <p:cNvSpPr/>
            <p:nvPr/>
          </p:nvSpPr>
          <p:spPr>
            <a:xfrm rot="18900600">
              <a:off x="6792480" y="12430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462;p30"/>
            <p:cNvSpPr/>
            <p:nvPr/>
          </p:nvSpPr>
          <p:spPr>
            <a:xfrm rot="18900600">
              <a:off x="5127480" y="38494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463;p30"/>
          <p:cNvGrpSpPr/>
          <p:nvPr/>
        </p:nvGrpSpPr>
        <p:grpSpPr>
          <a:xfrm>
            <a:off x="2669760" y="4362120"/>
            <a:ext cx="1309320" cy="257400"/>
            <a:chOff x="2669760" y="4362120"/>
            <a:chExt cx="1309320" cy="257400"/>
          </a:xfrm>
        </p:grpSpPr>
        <p:sp>
          <p:nvSpPr>
            <p:cNvPr id="74" name="Google Shape;464;p30"/>
            <p:cNvSpPr/>
            <p:nvPr/>
          </p:nvSpPr>
          <p:spPr>
            <a:xfrm>
              <a:off x="308916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465;p30"/>
            <p:cNvSpPr/>
            <p:nvPr/>
          </p:nvSpPr>
          <p:spPr>
            <a:xfrm>
              <a:off x="329328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466;p30"/>
            <p:cNvSpPr/>
            <p:nvPr/>
          </p:nvSpPr>
          <p:spPr>
            <a:xfrm>
              <a:off x="349740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467;p30"/>
            <p:cNvSpPr/>
            <p:nvPr/>
          </p:nvSpPr>
          <p:spPr>
            <a:xfrm>
              <a:off x="370152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468;p30"/>
            <p:cNvSpPr/>
            <p:nvPr/>
          </p:nvSpPr>
          <p:spPr>
            <a:xfrm>
              <a:off x="390564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469;p30"/>
            <p:cNvSpPr/>
            <p:nvPr/>
          </p:nvSpPr>
          <p:spPr>
            <a:xfrm>
              <a:off x="266976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470;p30"/>
            <p:cNvSpPr/>
            <p:nvPr/>
          </p:nvSpPr>
          <p:spPr>
            <a:xfrm>
              <a:off x="287388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471;p30"/>
            <p:cNvSpPr/>
            <p:nvPr/>
          </p:nvSpPr>
          <p:spPr>
            <a:xfrm>
              <a:off x="307800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472;p30"/>
            <p:cNvSpPr/>
            <p:nvPr/>
          </p:nvSpPr>
          <p:spPr>
            <a:xfrm>
              <a:off x="328212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473;p30"/>
            <p:cNvSpPr/>
            <p:nvPr/>
          </p:nvSpPr>
          <p:spPr>
            <a:xfrm>
              <a:off x="348624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920" bIns="25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4" name="Google Shape;474;p30"/>
          <p:cNvSpPr/>
          <p:nvPr/>
        </p:nvSpPr>
        <p:spPr>
          <a:xfrm>
            <a:off x="5654880" y="1312560"/>
            <a:ext cx="2851920" cy="2851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762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5" name="Google Shape;475;p30"/>
          <p:cNvGrpSpPr/>
          <p:nvPr/>
        </p:nvGrpSpPr>
        <p:grpSpPr>
          <a:xfrm>
            <a:off x="4643640" y="2814840"/>
            <a:ext cx="2188080" cy="1862640"/>
            <a:chOff x="4643640" y="2814840"/>
            <a:chExt cx="2188080" cy="1862640"/>
          </a:xfrm>
        </p:grpSpPr>
        <p:sp>
          <p:nvSpPr>
            <p:cNvPr id="86" name="Google Shape;476;p30"/>
            <p:cNvSpPr/>
            <p:nvPr/>
          </p:nvSpPr>
          <p:spPr>
            <a:xfrm rot="18900000">
              <a:off x="5941080" y="422748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477;p30"/>
            <p:cNvSpPr/>
            <p:nvPr/>
          </p:nvSpPr>
          <p:spPr>
            <a:xfrm>
              <a:off x="4643640" y="281484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30;p46"/>
          <p:cNvGrpSpPr/>
          <p:nvPr/>
        </p:nvGrpSpPr>
        <p:grpSpPr>
          <a:xfrm>
            <a:off x="4644000" y="-1800"/>
            <a:ext cx="4500000" cy="4366800"/>
            <a:chOff x="4644000" y="-1800"/>
            <a:chExt cx="4500000" cy="4366800"/>
          </a:xfrm>
        </p:grpSpPr>
        <p:sp>
          <p:nvSpPr>
            <p:cNvPr id="89" name="Google Shape;831;p46"/>
            <p:cNvSpPr/>
            <p:nvPr/>
          </p:nvSpPr>
          <p:spPr>
            <a:xfrm rot="10800000">
              <a:off x="4714560" y="-180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832;p46"/>
            <p:cNvSpPr/>
            <p:nvPr/>
          </p:nvSpPr>
          <p:spPr>
            <a:xfrm flipH="1" rot="13500000">
              <a:off x="7674840" y="37299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833;p46"/>
            <p:cNvSpPr/>
            <p:nvPr/>
          </p:nvSpPr>
          <p:spPr>
            <a:xfrm flipH="1" rot="13499400">
              <a:off x="4984920" y="154620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834;p46"/>
            <p:cNvSpPr/>
            <p:nvPr/>
          </p:nvSpPr>
          <p:spPr>
            <a:xfrm flipH="1" rot="13499400">
              <a:off x="7200720" y="2135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835;p46"/>
            <p:cNvSpPr/>
            <p:nvPr/>
          </p:nvSpPr>
          <p:spPr>
            <a:xfrm flipH="1" rot="13499400">
              <a:off x="7200000" y="30513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836;p46"/>
            <p:cNvSpPr/>
            <p:nvPr/>
          </p:nvSpPr>
          <p:spPr>
            <a:xfrm flipH="1" rot="13499400">
              <a:off x="5127120" y="8211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837;p46"/>
            <p:cNvSpPr/>
            <p:nvPr/>
          </p:nvSpPr>
          <p:spPr>
            <a:xfrm flipH="1" rot="10800000">
              <a:off x="4644000" y="73728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838;p46"/>
            <p:cNvSpPr/>
            <p:nvPr/>
          </p:nvSpPr>
          <p:spPr>
            <a:xfrm flipH="1" rot="13500000">
              <a:off x="6245640" y="80604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3960" y="1219320"/>
            <a:ext cx="4276440" cy="173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Introduction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723960" y="3057480"/>
            <a:ext cx="3524040" cy="86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Modern education shifts from teacher-led delivery to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student-centered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skills-focused learning. Emphasis is on real-world relevance, technology integration, and continuous assessment.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Main goal: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prepare adaptable learners ready for complex challenges.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Google Shape;841;p46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529;p35"/>
          <p:cNvGrpSpPr/>
          <p:nvPr/>
        </p:nvGrpSpPr>
        <p:grpSpPr>
          <a:xfrm>
            <a:off x="3979080" y="6840"/>
            <a:ext cx="5164200" cy="5143320"/>
            <a:chOff x="3979080" y="6840"/>
            <a:chExt cx="5164200" cy="5143320"/>
          </a:xfrm>
        </p:grpSpPr>
        <p:sp>
          <p:nvSpPr>
            <p:cNvPr id="101" name="Google Shape;530;p35"/>
            <p:cNvSpPr/>
            <p:nvPr/>
          </p:nvSpPr>
          <p:spPr>
            <a:xfrm flipH="1">
              <a:off x="3978720" y="6840"/>
              <a:ext cx="5164200" cy="514332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531;p35"/>
            <p:cNvSpPr/>
            <p:nvPr/>
          </p:nvSpPr>
          <p:spPr>
            <a:xfrm rot="18900600">
              <a:off x="4520880" y="3647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532;p35"/>
            <p:cNvSpPr/>
            <p:nvPr/>
          </p:nvSpPr>
          <p:spPr>
            <a:xfrm rot="18900600">
              <a:off x="7184160" y="22453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533;p35"/>
            <p:cNvSpPr/>
            <p:nvPr/>
          </p:nvSpPr>
          <p:spPr>
            <a:xfrm rot="18900600">
              <a:off x="6716520" y="11667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534;p35"/>
            <p:cNvSpPr/>
            <p:nvPr/>
          </p:nvSpPr>
          <p:spPr>
            <a:xfrm rot="18900600">
              <a:off x="5940360" y="35715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535;p35"/>
            <p:cNvSpPr/>
            <p:nvPr/>
          </p:nvSpPr>
          <p:spPr>
            <a:xfrm>
              <a:off x="6778080" y="289116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33320" y="1971720"/>
            <a:ext cx="44096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Modern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rchivo"/>
                <a:ea typeface="Archivo Black"/>
              </a:rPr>
              <a:t>Pedagogy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733320" y="3381480"/>
            <a:ext cx="2771280" cy="71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buNone/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Manrope"/>
              <a:ea typeface="Manrope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title"/>
          </p:nvPr>
        </p:nvSpPr>
        <p:spPr>
          <a:xfrm>
            <a:off x="790560" y="-940680"/>
            <a:ext cx="1047240" cy="4300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Manrope"/>
                <a:ea typeface="Archivo Black"/>
              </a:rPr>
              <a:t>01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539;p35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1" name="Google Shape;540;p35"/>
          <p:cNvGrpSpPr/>
          <p:nvPr/>
        </p:nvGrpSpPr>
        <p:grpSpPr>
          <a:xfrm>
            <a:off x="5405400" y="1044360"/>
            <a:ext cx="3160080" cy="3290760"/>
            <a:chOff x="5405400" y="1044360"/>
            <a:chExt cx="3160080" cy="3290760"/>
          </a:xfrm>
        </p:grpSpPr>
        <p:sp>
          <p:nvSpPr>
            <p:cNvPr id="112" name="Google Shape;541;p35"/>
            <p:cNvSpPr/>
            <p:nvPr/>
          </p:nvSpPr>
          <p:spPr>
            <a:xfrm rot="18900000">
              <a:off x="7674840" y="13795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542;p35"/>
            <p:cNvSpPr/>
            <p:nvPr/>
          </p:nvSpPr>
          <p:spPr>
            <a:xfrm rot="18900000">
              <a:off x="5299920" y="38851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Learner-centered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Focus on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student agency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 and personalized pathways. Activities emphasize projects, collaboration, and reflection, enabling deeper engagement.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Teachers act as facilitators, guiding inquiry and supporting individual growth.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830;p46"/>
          <p:cNvGrpSpPr/>
          <p:nvPr/>
        </p:nvGrpSpPr>
        <p:grpSpPr>
          <a:xfrm>
            <a:off x="4644000" y="-1800"/>
            <a:ext cx="4500000" cy="4366800"/>
            <a:chOff x="4644000" y="-1800"/>
            <a:chExt cx="4500000" cy="4366800"/>
          </a:xfrm>
        </p:grpSpPr>
        <p:sp>
          <p:nvSpPr>
            <p:cNvPr id="117" name="Google Shape;831;p46"/>
            <p:cNvSpPr/>
            <p:nvPr/>
          </p:nvSpPr>
          <p:spPr>
            <a:xfrm rot="10800000">
              <a:off x="4714560" y="-180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832;p46"/>
            <p:cNvSpPr/>
            <p:nvPr/>
          </p:nvSpPr>
          <p:spPr>
            <a:xfrm flipH="1" rot="13500000">
              <a:off x="7674840" y="37299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833;p46"/>
            <p:cNvSpPr/>
            <p:nvPr/>
          </p:nvSpPr>
          <p:spPr>
            <a:xfrm flipH="1" rot="13499400">
              <a:off x="4984920" y="154620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834;p46"/>
            <p:cNvSpPr/>
            <p:nvPr/>
          </p:nvSpPr>
          <p:spPr>
            <a:xfrm flipH="1" rot="13499400">
              <a:off x="7200720" y="2135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835;p46"/>
            <p:cNvSpPr/>
            <p:nvPr/>
          </p:nvSpPr>
          <p:spPr>
            <a:xfrm flipH="1" rot="13499400">
              <a:off x="7200000" y="30513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836;p46"/>
            <p:cNvSpPr/>
            <p:nvPr/>
          </p:nvSpPr>
          <p:spPr>
            <a:xfrm flipH="1" rot="13499400">
              <a:off x="5127120" y="8211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837;p46"/>
            <p:cNvSpPr/>
            <p:nvPr/>
          </p:nvSpPr>
          <p:spPr>
            <a:xfrm flipH="1" rot="10800000">
              <a:off x="4644000" y="73728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838;p46"/>
            <p:cNvSpPr/>
            <p:nvPr/>
          </p:nvSpPr>
          <p:spPr>
            <a:xfrm flipH="1" rot="13500000">
              <a:off x="6245640" y="80604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723960" y="1219320"/>
            <a:ext cx="4276440" cy="173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Competency-based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723960" y="3057480"/>
            <a:ext cx="3524040" cy="86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Students progress by demonstrating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mastery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not time spent in class.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Use frequent formative checks and flexible pacing to ensure skill acquisition and meaningful feedback.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Mastery over seat time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7" name="Google Shape;841;p46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Assessment strategies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Use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formative checks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 and varied methods to measure progress, not just exams.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Implement frequent feedback loops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performance tasks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 to guide learning and adjust instruction.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1" name="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EdTech Integration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image69f307283288a" descr="image69f307283288e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Digital tools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4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Select tools that support collaboration, creativity, and assessment. Prioritize usability and alignment with goals.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Train teachers and monitor impact to ensure meaningful adoption and avoid tech for techs sake.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Hybrid classrooms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Blend synchronous and asynchronous activities for flexibility and engagement.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Design clear routines, equitable access plans, and concise digital materials to maintain learning continuity.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7" name="image69f307283f465" descr="image69f307283f46a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Data privacy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9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Protect student data with strict policies, consent protocols, and secure platforms.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Limit data collection to essentials and conduct regular audits to ensure compliance and trust.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Privacy first.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rchivo Black"/>
              </a:rPr>
              <a:t>Conclusions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Focus on learner outcomes, not tools. Combine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pedagogy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 with purposeful technology and robust assessment.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Manrope"/>
              </a:rPr>
              <a:t>Ensure equity, privacy, and ongoing teacher support for sustainable modernization.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037;p55"/>
          <p:cNvGrpSpPr/>
          <p:nvPr/>
        </p:nvGrpSpPr>
        <p:grpSpPr>
          <a:xfrm>
            <a:off x="3979080" y="6840"/>
            <a:ext cx="5164200" cy="5143320"/>
            <a:chOff x="3979080" y="6840"/>
            <a:chExt cx="5164200" cy="5143320"/>
          </a:xfrm>
        </p:grpSpPr>
        <p:sp>
          <p:nvSpPr>
            <p:cNvPr id="143" name="Google Shape;1038;p55"/>
            <p:cNvSpPr/>
            <p:nvPr/>
          </p:nvSpPr>
          <p:spPr>
            <a:xfrm flipH="1">
              <a:off x="3978720" y="6840"/>
              <a:ext cx="5164200" cy="514332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4" name="Google Shape;1039;p55"/>
            <p:cNvGrpSpPr/>
            <p:nvPr/>
          </p:nvGrpSpPr>
          <p:grpSpPr>
            <a:xfrm>
              <a:off x="4666320" y="607680"/>
              <a:ext cx="4152240" cy="4000680"/>
              <a:chOff x="4666320" y="607680"/>
              <a:chExt cx="4152240" cy="4000680"/>
            </a:xfrm>
          </p:grpSpPr>
          <p:sp>
            <p:nvSpPr>
              <p:cNvPr id="145" name="Google Shape;1040;p55"/>
              <p:cNvSpPr/>
              <p:nvPr/>
            </p:nvSpPr>
            <p:spPr>
              <a:xfrm rot="18900600">
                <a:off x="4520880" y="364752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6" name="Google Shape;1041;p55"/>
              <p:cNvSpPr/>
              <p:nvPr/>
            </p:nvSpPr>
            <p:spPr>
              <a:xfrm rot="18900600">
                <a:off x="7184160" y="2245320"/>
                <a:ext cx="1779480" cy="32616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" name="Google Shape;1042;p55"/>
              <p:cNvSpPr/>
              <p:nvPr/>
            </p:nvSpPr>
            <p:spPr>
              <a:xfrm rot="18900600">
                <a:off x="6716520" y="116676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" name="Google Shape;1043;p55"/>
              <p:cNvSpPr/>
              <p:nvPr/>
            </p:nvSpPr>
            <p:spPr>
              <a:xfrm rot="18900600">
                <a:off x="5940360" y="3571560"/>
                <a:ext cx="1779480" cy="47736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" name="Google Shape;1044;p55"/>
              <p:cNvSpPr/>
              <p:nvPr/>
            </p:nvSpPr>
            <p:spPr>
              <a:xfrm>
                <a:off x="6778080" y="2891160"/>
                <a:ext cx="1596240" cy="159624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714240" y="542880"/>
            <a:ext cx="4628880" cy="182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Thanks!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714240" y="1800360"/>
            <a:ext cx="46288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youremail@freepik.com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+34 654 321 432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yourwebsite.com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2" name="Google Shape;1047;p55"/>
          <p:cNvSpPr/>
          <p:nvPr/>
        </p:nvSpPr>
        <p:spPr>
          <a:xfrm>
            <a:off x="714240" y="4352760"/>
            <a:ext cx="444780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Google Shape;1048;p55"/>
          <p:cNvSpPr/>
          <p:nvPr/>
        </p:nvSpPr>
        <p:spPr>
          <a:xfrm>
            <a:off x="5397480" y="1055160"/>
            <a:ext cx="3033000" cy="303300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38100">
            <a:solidFill>
              <a:srgbClr val="f8f8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4" name="Google Shape;1049;p55"/>
          <p:cNvGrpSpPr/>
          <p:nvPr/>
        </p:nvGrpSpPr>
        <p:grpSpPr>
          <a:xfrm>
            <a:off x="2460960" y="3060720"/>
            <a:ext cx="709920" cy="513720"/>
            <a:chOff x="2460960" y="3060720"/>
            <a:chExt cx="709920" cy="513720"/>
          </a:xfrm>
        </p:grpSpPr>
        <p:sp>
          <p:nvSpPr>
            <p:cNvPr id="155" name="Google Shape;1050;p55"/>
            <p:cNvSpPr/>
            <p:nvPr/>
          </p:nvSpPr>
          <p:spPr>
            <a:xfrm>
              <a:off x="246096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6" name="Google Shape;1051;p55"/>
            <p:cNvGrpSpPr/>
            <p:nvPr/>
          </p:nvGrpSpPr>
          <p:grpSpPr>
            <a:xfrm>
              <a:off x="2651400" y="3153240"/>
              <a:ext cx="328320" cy="328320"/>
              <a:chOff x="2651400" y="3153240"/>
              <a:chExt cx="328320" cy="328320"/>
            </a:xfrm>
          </p:grpSpPr>
          <p:sp>
            <p:nvSpPr>
              <p:cNvPr id="157" name="Google Shape;1052;p55"/>
              <p:cNvSpPr/>
              <p:nvPr/>
            </p:nvSpPr>
            <p:spPr>
              <a:xfrm>
                <a:off x="2806920" y="3210840"/>
                <a:ext cx="112320" cy="270720"/>
              </a:xfrm>
              <a:custGeom>
                <a:avLst/>
                <a:gdLst>
                  <a:gd name="textAreaLeft" fmla="*/ 0 w 112320"/>
                  <a:gd name="textAreaRight" fmla="*/ 112680 w 112320"/>
                  <a:gd name="textAreaTop" fmla="*/ 0 h 270720"/>
                  <a:gd name="textAreaBottom" fmla="*/ 271080 h 270720"/>
                </a:gdLst>
                <a:ahLst/>
                <a:cxnLst/>
                <a:rect l="textAreaLeft" t="textAreaTop" r="textAreaRight" b="textAreaBottom"/>
                <a:pathLst>
                  <a:path w="6527" h="15727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1053;p55"/>
              <p:cNvSpPr/>
              <p:nvPr/>
            </p:nvSpPr>
            <p:spPr>
              <a:xfrm>
                <a:off x="26514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6" h="19065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59" name="Google Shape;1054;p55"/>
          <p:cNvGrpSpPr/>
          <p:nvPr/>
        </p:nvGrpSpPr>
        <p:grpSpPr>
          <a:xfrm>
            <a:off x="781200" y="3060720"/>
            <a:ext cx="709920" cy="513720"/>
            <a:chOff x="781200" y="3060720"/>
            <a:chExt cx="709920" cy="513720"/>
          </a:xfrm>
        </p:grpSpPr>
        <p:sp>
          <p:nvSpPr>
            <p:cNvPr id="160" name="Google Shape;1055;p55"/>
            <p:cNvSpPr/>
            <p:nvPr/>
          </p:nvSpPr>
          <p:spPr>
            <a:xfrm>
              <a:off x="78120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1" name="Google Shape;1056;p55"/>
            <p:cNvGrpSpPr/>
            <p:nvPr/>
          </p:nvGrpSpPr>
          <p:grpSpPr>
            <a:xfrm>
              <a:off x="972000" y="3153240"/>
              <a:ext cx="328320" cy="328320"/>
              <a:chOff x="972000" y="3153240"/>
              <a:chExt cx="328320" cy="328320"/>
            </a:xfrm>
          </p:grpSpPr>
          <p:sp>
            <p:nvSpPr>
              <p:cNvPr id="162" name="Google Shape;1057;p55"/>
              <p:cNvSpPr/>
              <p:nvPr/>
            </p:nvSpPr>
            <p:spPr>
              <a:xfrm>
                <a:off x="1040040" y="3211560"/>
                <a:ext cx="19080" cy="1908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1119" h="1117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058;p55"/>
              <p:cNvSpPr/>
              <p:nvPr/>
            </p:nvSpPr>
            <p:spPr>
              <a:xfrm>
                <a:off x="97200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5" h="19065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059;p55"/>
              <p:cNvSpPr/>
              <p:nvPr/>
            </p:nvSpPr>
            <p:spPr>
              <a:xfrm>
                <a:off x="1117080" y="3288240"/>
                <a:ext cx="115200" cy="134640"/>
              </a:xfrm>
              <a:custGeom>
                <a:avLst/>
                <a:gdLst>
                  <a:gd name="textAreaLeft" fmla="*/ 0 w 115200"/>
                  <a:gd name="textAreaRight" fmla="*/ 115560 w 11520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6704" h="7837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060;p55"/>
              <p:cNvSpPr/>
              <p:nvPr/>
            </p:nvSpPr>
            <p:spPr>
              <a:xfrm>
                <a:off x="1040040" y="3288600"/>
                <a:ext cx="19080" cy="13464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1119" h="782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7320" bIns="673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66" name="Google Shape;1061;p55"/>
          <p:cNvGrpSpPr/>
          <p:nvPr/>
        </p:nvGrpSpPr>
        <p:grpSpPr>
          <a:xfrm>
            <a:off x="1621080" y="3060720"/>
            <a:ext cx="709920" cy="513720"/>
            <a:chOff x="1621080" y="3060720"/>
            <a:chExt cx="709920" cy="513720"/>
          </a:xfrm>
        </p:grpSpPr>
        <p:sp>
          <p:nvSpPr>
            <p:cNvPr id="167" name="Google Shape;1062;p55"/>
            <p:cNvSpPr/>
            <p:nvPr/>
          </p:nvSpPr>
          <p:spPr>
            <a:xfrm>
              <a:off x="16210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8" name="Google Shape;1063;p55"/>
            <p:cNvGrpSpPr/>
            <p:nvPr/>
          </p:nvGrpSpPr>
          <p:grpSpPr>
            <a:xfrm>
              <a:off x="1811880" y="3153240"/>
              <a:ext cx="328320" cy="328320"/>
              <a:chOff x="1811880" y="3153240"/>
              <a:chExt cx="328320" cy="328320"/>
            </a:xfrm>
          </p:grpSpPr>
          <p:sp>
            <p:nvSpPr>
              <p:cNvPr id="169" name="Google Shape;1064;p55"/>
              <p:cNvSpPr/>
              <p:nvPr/>
            </p:nvSpPr>
            <p:spPr>
              <a:xfrm>
                <a:off x="1870200" y="3211560"/>
                <a:ext cx="211680" cy="211680"/>
              </a:xfrm>
              <a:custGeom>
                <a:avLst/>
                <a:gdLst>
                  <a:gd name="textAreaLeft" fmla="*/ 0 w 211680"/>
                  <a:gd name="textAreaRight" fmla="*/ 212040 w 211680"/>
                  <a:gd name="textAreaTop" fmla="*/ 0 h 211680"/>
                  <a:gd name="textAreaBottom" fmla="*/ 212040 h 21168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065;p55"/>
              <p:cNvSpPr/>
              <p:nvPr/>
            </p:nvSpPr>
            <p:spPr>
              <a:xfrm>
                <a:off x="1927800" y="3269520"/>
                <a:ext cx="96120" cy="96120"/>
              </a:xfrm>
              <a:custGeom>
                <a:avLst/>
                <a:gdLst>
                  <a:gd name="textAreaLeft" fmla="*/ 0 w 96120"/>
                  <a:gd name="textAreaRight" fmla="*/ 96480 w 96120"/>
                  <a:gd name="textAreaTop" fmla="*/ 0 h 96120"/>
                  <a:gd name="textAreaBottom" fmla="*/ 96480 h 9612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8240" bIns="482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1" name="Google Shape;1066;p55"/>
              <p:cNvSpPr/>
              <p:nvPr/>
            </p:nvSpPr>
            <p:spPr>
              <a:xfrm>
                <a:off x="1811880" y="3153240"/>
                <a:ext cx="328320" cy="32832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28320"/>
                  <a:gd name="textAreaBottom" fmla="*/ 328680 h 328320"/>
                </a:gdLst>
                <a:ahLst/>
                <a:cxnLst/>
                <a:rect l="textAreaLeft" t="textAreaTop" r="textAreaRight" b="textAreaBottom"/>
                <a:pathLst>
                  <a:path w="19064" h="19065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2" name="Google Shape;1067;p55"/>
          <p:cNvGrpSpPr/>
          <p:nvPr/>
        </p:nvGrpSpPr>
        <p:grpSpPr>
          <a:xfrm>
            <a:off x="3300480" y="3060720"/>
            <a:ext cx="709920" cy="513720"/>
            <a:chOff x="3300480" y="3060720"/>
            <a:chExt cx="709920" cy="513720"/>
          </a:xfrm>
        </p:grpSpPr>
        <p:sp>
          <p:nvSpPr>
            <p:cNvPr id="173" name="Google Shape;1068;p55"/>
            <p:cNvSpPr/>
            <p:nvPr/>
          </p:nvSpPr>
          <p:spPr>
            <a:xfrm>
              <a:off x="3300480" y="3060720"/>
              <a:ext cx="709920" cy="51372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069;p55"/>
            <p:cNvSpPr/>
            <p:nvPr/>
          </p:nvSpPr>
          <p:spPr>
            <a:xfrm>
              <a:off x="3490920" y="3183120"/>
              <a:ext cx="329400" cy="268560"/>
            </a:xfrm>
            <a:custGeom>
              <a:avLst/>
              <a:gdLst>
                <a:gd name="textAreaLeft" fmla="*/ 0 w 329400"/>
                <a:gd name="textAreaRight" fmla="*/ 329760 w 329400"/>
                <a:gd name="textAreaTop" fmla="*/ 0 h 268560"/>
                <a:gd name="textAreaBottom" fmla="*/ 268920 h 268560"/>
              </a:gdLst>
              <a:ahLst/>
              <a:cxnLst/>
              <a:rect l="textAreaLeft" t="textAreaTop" r="textAreaRight" b="textAreaBottom"/>
              <a:pathLst>
                <a:path w="19122" h="15596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5" name="Google Shape;1070;p55"/>
          <p:cNvGrpSpPr/>
          <p:nvPr/>
        </p:nvGrpSpPr>
        <p:grpSpPr>
          <a:xfrm>
            <a:off x="5405400" y="1044360"/>
            <a:ext cx="3282840" cy="3290760"/>
            <a:chOff x="5405400" y="1044360"/>
            <a:chExt cx="3282840" cy="3290760"/>
          </a:xfrm>
        </p:grpSpPr>
        <p:sp>
          <p:nvSpPr>
            <p:cNvPr id="176" name="Google Shape;1071;p55"/>
            <p:cNvSpPr/>
            <p:nvPr/>
          </p:nvSpPr>
          <p:spPr>
            <a:xfrm rot="18900000">
              <a:off x="7797600" y="13795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072;p55"/>
            <p:cNvSpPr/>
            <p:nvPr/>
          </p:nvSpPr>
          <p:spPr>
            <a:xfrm rot="18900000">
              <a:off x="5299920" y="388512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680" bIns="40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2026-04-30T07:39:19Z</dcterms:created>
  <dc:creator>Unknown Creator</dc:creator>
  <dc:description/>
  <dc:language>en-US</dc:language>
  <cp:lastModifiedBy>Unknown Creator</cp:lastModifiedBy>
  <dcterms:modified xsi:type="dcterms:W3CDTF">2026-04-30T07:39:19Z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